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7d3c7914-52b3-b6b2-4b75-62454dd5e2b6}">
          <p14:sldIdLst>
            <p14:sldId id="256"/>
          </p14:sldIdLst>
        </p14:section>
        <p14:section name="Зерттеу" id="{ec1b85c4-8625-5898-2b13-8cec76f9595b}">
          <p14:sldIdLst>
            <p14:sldId id="257"/>
          </p14:sldIdLst>
        </p14:section>
        <p14:section name="Қосымша" id="{0b4cabc7-37fa-cadf-e338-93922c65a585}">
          <p14:sldIdLst>
            <p14:sldId id="258"/>
            <p14:sldId id="259"/>
          </p14:sldIdLst>
        </p14:section>
        <p14:section name="Нәтижелер" id="{d121c787-ecc9-653e-dd47-d96f043730a0}">
          <p14:sldIdLst>
            <p14:sldId id="260"/>
          </p14:sldIdLst>
        </p14:section>
        <p14:section name="Қорытынды" id="{c0cee339-4461-6ad6-a5da-5bd5bba8c701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1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130"/>
                </a:solidFill>
                <a:latin typeface="+mn-lt"/>
              </a:rPr>
              <a:t>ЖИ мен педагог бағалары (14 модельдік жауап, 0–8)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ЖИ бағасы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R01</c:v>
                  </c:pt>
                  <c:pt idx="1">
                    <c:v>R02</c:v>
                  </c:pt>
                  <c:pt idx="2">
                    <c:v>R03</c:v>
                  </c:pt>
                  <c:pt idx="3">
                    <c:v>R04</c:v>
                  </c:pt>
                  <c:pt idx="4">
                    <c:v>R05</c:v>
                  </c:pt>
                  <c:pt idx="5">
                    <c:v>R06</c:v>
                  </c:pt>
                  <c:pt idx="6">
                    <c:v>R07</c:v>
                  </c:pt>
                  <c:pt idx="7">
                    <c:v>R08</c:v>
                  </c:pt>
                  <c:pt idx="8">
                    <c:v>R09</c:v>
                  </c:pt>
                  <c:pt idx="9">
                    <c:v>R10</c:v>
                  </c:pt>
                  <c:pt idx="10">
                    <c:v>R11</c:v>
                  </c:pt>
                  <c:pt idx="11">
                    <c:v>R12</c:v>
                  </c:pt>
                  <c:pt idx="12">
                    <c:v>R13</c:v>
                  </c:pt>
                  <c:pt idx="13">
                    <c:v>R14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</c:v>
                </c:pt>
                <c:pt idx="1">
                  <c:v>5</c:v>
                </c:pt>
                <c:pt idx="2">
                  <c:v>4</c:v>
                </c:pt>
                <c:pt idx="3">
                  <c:v>8</c:v>
                </c:pt>
                <c:pt idx="4">
                  <c:v>5</c:v>
                </c:pt>
                <c:pt idx="5">
                  <c:v>1</c:v>
                </c:pt>
                <c:pt idx="6">
                  <c:v>8</c:v>
                </c:pt>
                <c:pt idx="7">
                  <c:v>5</c:v>
                </c:pt>
                <c:pt idx="8">
                  <c:v>2</c:v>
                </c:pt>
                <c:pt idx="9">
                  <c:v>0</c:v>
                </c:pt>
                <c:pt idx="10">
                  <c:v>1</c:v>
                </c:pt>
                <c:pt idx="11">
                  <c:v>7</c:v>
                </c:pt>
                <c:pt idx="12">
                  <c:v>4</c:v>
                </c:pt>
                <c:pt idx="1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Педагог бағасы</c:v>
                </c:pt>
              </c:strCache>
            </c:strRef>
          </c:tx>
          <c:spPr>
            <a:solidFill>
              <a:srgbClr val="F0C4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R01</c:v>
                  </c:pt>
                  <c:pt idx="1">
                    <c:v>R02</c:v>
                  </c:pt>
                  <c:pt idx="2">
                    <c:v>R03</c:v>
                  </c:pt>
                  <c:pt idx="3">
                    <c:v>R04</c:v>
                  </c:pt>
                  <c:pt idx="4">
                    <c:v>R05</c:v>
                  </c:pt>
                  <c:pt idx="5">
                    <c:v>R06</c:v>
                  </c:pt>
                  <c:pt idx="6">
                    <c:v>R07</c:v>
                  </c:pt>
                  <c:pt idx="7">
                    <c:v>R08</c:v>
                  </c:pt>
                  <c:pt idx="8">
                    <c:v>R09</c:v>
                  </c:pt>
                  <c:pt idx="9">
                    <c:v>R10</c:v>
                  </c:pt>
                  <c:pt idx="10">
                    <c:v>R11</c:v>
                  </c:pt>
                  <c:pt idx="11">
                    <c:v>R12</c:v>
                  </c:pt>
                  <c:pt idx="12">
                    <c:v>R13</c:v>
                  </c:pt>
                  <c:pt idx="13">
                    <c:v>R14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8</c:v>
                </c:pt>
                <c:pt idx="1">
                  <c:v>5</c:v>
                </c:pt>
                <c:pt idx="2">
                  <c:v>4</c:v>
                </c:pt>
                <c:pt idx="3">
                  <c:v>8</c:v>
                </c:pt>
                <c:pt idx="4">
                  <c:v>5</c:v>
                </c:pt>
                <c:pt idx="5">
                  <c:v>1</c:v>
                </c:pt>
                <c:pt idx="6">
                  <c:v>8</c:v>
                </c:pt>
                <c:pt idx="7">
                  <c:v>5</c:v>
                </c:pt>
                <c:pt idx="8">
                  <c:v>2</c:v>
                </c:pt>
                <c:pt idx="9">
                  <c:v>0</c:v>
                </c:pt>
                <c:pt idx="10">
                  <c:v>5</c:v>
                </c:pt>
                <c:pt idx="11">
                  <c:v>7</c:v>
                </c:pt>
                <c:pt idx="12">
                  <c:v>6</c:v>
                </c:pt>
                <c:pt idx="1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Сәлеметсіздер ме. Жобамның тақырыбы — педагогикалық зерттеуге арналған бұлттық веб қосымшаны әзірлеу және ЖИ сервисін API арқылы интеграциялау. Қосымша менің диссертациямның тақырыбына — JavaScript-ті ЖИ көмегімен оқытуға арналған онлайн платформаға — тікелей байланысты.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Педагогикалық мәселе: практикалық тапсырмаларға жедел әрі нақты кері байланыс беру қиын. Зерттеу сұрағым — оқушылар қандай қателер жібереді және ЖИ кері байланысы оларды педагогпен салыстырғанда қаншалықты дұрыс анықтайды. Ол үшін қосымшада 10 сұрақтық тест және рубрикасы бар 3 практикалық тапсырма бар.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Архитектура: қатысушы мен зерттеуші браузер арқылы Flask серверімен жұмыс істейді. Сервер Render.com бұлттық платформасында орналасқан. Деректер Firebase Firestore-да бес жинақта сақталады, ЖИ талдауын Google Gemini API жасайды. API кілті браузерге берілмейді, ол сервердің орта айнымалысында тұр.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Жұмыс тәртібі: жауап алдымен бұлтқа сақталады, содан кейін сервер тапсырма мен рубриканы деректер қорынан алып, Gemini-ге сұраныс жібереді. ЖИ жауабы бекітілген JSON өрістерімен келеді, сервер балдың 0–8 аралығында екенін тексереді. Педагог зерттеуші бетінде ЖИ нәтижесін көріп, өз бағасын қояды; екеуі бөлек сақталады. Осы жерде қосымшаны көрсетемін: бір жауап жіберу, бұлтта сақталуы, ЖИ кері байланысы, педагог тексеруі және CSV экспорт.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Техникалық сынақтың барлық жағдайлары автотесттермен тексерілді: 16 тесттің 16-сы өтті. ЖИ сапасын тексеру үшін 14 модельдік жауап дайындадым: дұрыс, жартылай дұрыс, қате, нұсқау енгізу әрекеті және рубрикаға тура келмейтін төрт даулы жауап. Педагог бағасын ЖИ нәтижесін көрмей тұрып қойдым. Типтік жауаптарда бағалар толық сәйкес келді, ЖИ max = 0 сияқты мағыналық қателерді де тапты және нұсқау енгізуге көнбеді. Айырмашылық тек даулы жауаптарда болды: ЖИ рубриканы сөзбе-сөз қолданып, sort, reduce, onclick сияқты баламалы шешімдерді төмен бағалады және needs_review белгісін қоймады. Сондықтан сұраныстың v2 нұсқасын жасадым, ал барлық ЖИ нәтижесі педагог тексергенге дейін тексерілмеген деп белгіленеді.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Қорытынды: зерттеу міндетін шешетін, деректерді бұлтта сақтайтын және ЖИ кері байланысын педагог бақылауымен беретін қосымша жасалды. Шектеулері — код орындалмайды, тегін API лимиттері бар, әзірге модельдік деректер аз. Келесі қадам — пилоттық тексеру және 2-аралық жобаға педагог тексерген деректерді жинау. Назарларыңызға рахмет.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JS-Тәлімгер · 1-аралық бақылау жобасы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 txBox="1"/>
          <p:nvPr/>
        </p:nvSpPr>
        <p:spPr>
          <a:xfrm>
            <a:off x="548640" y="548640"/>
            <a:ext cx="8229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JS-Тәлімгер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606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JavaScript бойынша ЖИ кері байланысы бар диагностикалық бұлттық веб қосымша</a:t>
            </a:r>
            <a:endParaRPr lang="en-US" sz="2000" dirty="0"/>
          </a:p>
        </p:txBody>
      </p:sp>
      <p:sp>
        <p:nvSpPr>
          <p:cNvPr id="5" name="meta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0DE"/>
                </a:solidFill>
              </a:rPr>
              <a:t>1-аралық бақылау жобасы · «Педагогикалық зерттеулерді ұйымдастырудағы бұлтты технологиялар»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0DE"/>
                </a:solidFill>
              </a:rPr>
              <a:t>Магистрант: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130"/>
                </a:solidFill>
                <a:highlight>
                  <a:srgbClr val="FFFF00"/>
                </a:highlight>
              </a:rPr>
              <a:t>[аты-жөні]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0DE"/>
                </a:solidFill>
              </a:rPr>
              <a:t> · 7М01511 – Информатика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Зерттеу міндеті</a:t>
            </a:r>
            <a:endParaRPr lang="en-US" sz="30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0972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Мәселе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JS-ті бастап үйренушілер циклдерде, массивтерде және DOM оқиғаларында тұрақты қателер жібереді, ал әр практикалық жауапқа жеке кері байланыс беру педагогтен көп уақыт талап етеді.</a:t>
            </a:r>
            <a:endParaRPr lang="en-US" sz="1600" dirty="0"/>
          </a:p>
        </p:txBody>
      </p:sp>
      <p:sp>
        <p:nvSpPr>
          <p:cNvPr id="4" name="question-card"/>
          <p:cNvSpPr/>
          <p:nvPr/>
        </p:nvSpPr>
        <p:spPr>
          <a:xfrm>
            <a:off x="457200" y="260604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F3F5F9"/>
          </a:solidFill>
          <a:ln/>
        </p:spPr>
      </p:sp>
      <p:sp>
        <p:nvSpPr>
          <p:cNvPr id="5" name="question"/>
          <p:cNvSpPr txBox="1"/>
          <p:nvPr/>
        </p:nvSpPr>
        <p:spPr>
          <a:xfrm>
            <a:off x="685800" y="274320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Зерттеу сұрағы</a:t>
            </a:r>
            <a:endParaRPr lang="en-US" sz="16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Білім алушылар массивтермен, циклдермен және DOM оқиғаларымен жұмыс істеуге арналған тапсырмаларда қандай қателер жібереді және ЖИ кері байланысы оларды педагог бағасымен салыстырғанда қаншалықты дұрыс анықтайды?</a:t>
            </a:r>
            <a:endParaRPr lang="en-US" sz="1600" dirty="0"/>
          </a:p>
        </p:txBody>
      </p:sp>
      <p:sp>
        <p:nvSpPr>
          <p:cNvPr id="6" name="stat-card-0"/>
          <p:cNvSpPr/>
          <p:nvPr/>
        </p:nvSpPr>
        <p:spPr>
          <a:xfrm>
            <a:off x="5760720" y="109728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7" name="stat-num-0"/>
          <p:cNvSpPr txBox="1"/>
          <p:nvPr/>
        </p:nvSpPr>
        <p:spPr>
          <a:xfrm>
            <a:off x="5943600" y="118872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stat-label-0"/>
          <p:cNvSpPr txBox="1"/>
          <p:nvPr/>
        </p:nvSpPr>
        <p:spPr>
          <a:xfrm>
            <a:off x="7132320" y="1188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сұрақтық диагностикалық тест</a:t>
            </a:r>
            <a:endParaRPr lang="en-US" sz="1300" dirty="0"/>
          </a:p>
        </p:txBody>
      </p:sp>
      <p:sp>
        <p:nvSpPr>
          <p:cNvPr id="9" name="stat-card-1"/>
          <p:cNvSpPr/>
          <p:nvPr/>
        </p:nvSpPr>
        <p:spPr>
          <a:xfrm>
            <a:off x="5760720" y="2258568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10" name="stat-num-1"/>
          <p:cNvSpPr txBox="1"/>
          <p:nvPr/>
        </p:nvSpPr>
        <p:spPr>
          <a:xfrm>
            <a:off x="5943600" y="235000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stat-label-1"/>
          <p:cNvSpPr txBox="1"/>
          <p:nvPr/>
        </p:nvSpPr>
        <p:spPr>
          <a:xfrm>
            <a:off x="7132320" y="235000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практикалық тапсырма (код + түсіндірме)</a:t>
            </a:r>
            <a:endParaRPr lang="en-US" sz="1300" dirty="0"/>
          </a:p>
        </p:txBody>
      </p:sp>
      <p:sp>
        <p:nvSpPr>
          <p:cNvPr id="12" name="stat-card-2"/>
          <p:cNvSpPr/>
          <p:nvPr/>
        </p:nvSpPr>
        <p:spPr>
          <a:xfrm>
            <a:off x="5760720" y="3419856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13" name="stat-num-2"/>
          <p:cNvSpPr txBox="1"/>
          <p:nvPr/>
        </p:nvSpPr>
        <p:spPr>
          <a:xfrm>
            <a:off x="5943600" y="3511296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2</a:t>
            </a:r>
            <a:endParaRPr lang="en-US" sz="3400" dirty="0"/>
          </a:p>
        </p:txBody>
      </p:sp>
      <p:sp>
        <p:nvSpPr>
          <p:cNvPr id="14" name="stat-label-2"/>
          <p:cNvSpPr txBox="1"/>
          <p:nvPr/>
        </p:nvSpPr>
        <p:spPr>
          <a:xfrm>
            <a:off x="7132320" y="351129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рубрика: 4 критерий, 0–2 балдан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Қосымша архитектурасы</a:t>
            </a:r>
            <a:endParaRPr lang="en-US" sz="3000" dirty="0"/>
          </a:p>
        </p:txBody>
      </p:sp>
      <p:pic>
        <p:nvPicPr>
          <p:cNvPr id="3" name="architecture" descr="Қосымша архитектурасы: браузер, Flask сервері, Firestore, Gemini 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220278"/>
          </a:xfrm>
          <a:prstGeom prst="rect">
            <a:avLst/>
          </a:prstGeom>
        </p:spPr>
      </p:pic>
      <p:sp>
        <p:nvSpPr>
          <p:cNvPr id="4" name="arch-notes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Flask (Render.com) · Firebase Firestore · Google Gemini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API кілті тек серверде · жауап ЖИ-ден бұрын сақталады · педагог бағасы ЖИ нәтижесінен бөлек сақталады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ЖИ интеграциясы және педагог тексеруі</a:t>
            </a:r>
            <a:endParaRPr lang="en-US" sz="3000" dirty="0"/>
          </a:p>
        </p:txBody>
      </p:sp>
      <p:sp>
        <p:nvSpPr>
          <p:cNvPr id="3" name="step-1"/>
          <p:cNvSpPr txBox="1"/>
          <p:nvPr/>
        </p:nvSpPr>
        <p:spPr>
          <a:xfrm>
            <a:off x="86868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step-arrow-1"/>
          <p:cNvSpPr/>
          <p:nvPr/>
        </p:nvSpPr>
        <p:spPr>
          <a:xfrm>
            <a:off x="1444752" y="1348740"/>
            <a:ext cx="768096" cy="0"/>
          </a:xfrm>
          <a:prstGeom prst="line">
            <a:avLst/>
          </a:prstGeom>
          <a:noFill/>
          <a:ln w="1587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5" name="step-label-1"/>
          <p:cNvSpPr txBox="1"/>
          <p:nvPr/>
        </p:nvSpPr>
        <p:spPr>
          <a:xfrm>
            <a:off x="457200" y="1691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Жауап енгізу</a:t>
            </a:r>
            <a:endParaRPr lang="en-US" sz="1300" dirty="0"/>
          </a:p>
        </p:txBody>
      </p:sp>
      <p:sp>
        <p:nvSpPr>
          <p:cNvPr id="6" name="step-2"/>
          <p:cNvSpPr txBox="1"/>
          <p:nvPr/>
        </p:nvSpPr>
        <p:spPr>
          <a:xfrm>
            <a:off x="224028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step-arrow-2"/>
          <p:cNvSpPr/>
          <p:nvPr/>
        </p:nvSpPr>
        <p:spPr>
          <a:xfrm>
            <a:off x="2816352" y="1348740"/>
            <a:ext cx="768096" cy="0"/>
          </a:xfrm>
          <a:prstGeom prst="line">
            <a:avLst/>
          </a:prstGeom>
          <a:noFill/>
          <a:ln w="1587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8" name="step-label-2"/>
          <p:cNvSpPr txBox="1"/>
          <p:nvPr/>
        </p:nvSpPr>
        <p:spPr>
          <a:xfrm>
            <a:off x="1828800" y="1691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Бұлтқа сақтау</a:t>
            </a:r>
            <a:endParaRPr lang="en-US" sz="1300" dirty="0"/>
          </a:p>
        </p:txBody>
      </p:sp>
      <p:sp>
        <p:nvSpPr>
          <p:cNvPr id="9" name="step-3"/>
          <p:cNvSpPr txBox="1"/>
          <p:nvPr/>
        </p:nvSpPr>
        <p:spPr>
          <a:xfrm>
            <a:off x="361188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step-arrow-3"/>
          <p:cNvSpPr/>
          <p:nvPr/>
        </p:nvSpPr>
        <p:spPr>
          <a:xfrm>
            <a:off x="4187952" y="1348740"/>
            <a:ext cx="768096" cy="0"/>
          </a:xfrm>
          <a:prstGeom prst="line">
            <a:avLst/>
          </a:prstGeom>
          <a:noFill/>
          <a:ln w="1587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step-label-3"/>
          <p:cNvSpPr txBox="1"/>
          <p:nvPr/>
        </p:nvSpPr>
        <p:spPr>
          <a:xfrm>
            <a:off x="3200400" y="1691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Gemini: рубрика бойынша талдау</a:t>
            </a:r>
            <a:endParaRPr lang="en-US" sz="1300" dirty="0"/>
          </a:p>
        </p:txBody>
      </p:sp>
      <p:sp>
        <p:nvSpPr>
          <p:cNvPr id="12" name="step-4"/>
          <p:cNvSpPr txBox="1"/>
          <p:nvPr/>
        </p:nvSpPr>
        <p:spPr>
          <a:xfrm>
            <a:off x="498348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step-arrow-4"/>
          <p:cNvSpPr/>
          <p:nvPr/>
        </p:nvSpPr>
        <p:spPr>
          <a:xfrm>
            <a:off x="5559552" y="1348740"/>
            <a:ext cx="768096" cy="0"/>
          </a:xfrm>
          <a:prstGeom prst="line">
            <a:avLst/>
          </a:prstGeom>
          <a:noFill/>
          <a:ln w="1587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step-label-4"/>
          <p:cNvSpPr txBox="1"/>
          <p:nvPr/>
        </p:nvSpPr>
        <p:spPr>
          <a:xfrm>
            <a:off x="4572000" y="1691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JSON мен балды тексеру</a:t>
            </a:r>
            <a:endParaRPr lang="en-US" sz="1300" dirty="0"/>
          </a:p>
        </p:txBody>
      </p:sp>
      <p:sp>
        <p:nvSpPr>
          <p:cNvPr id="15" name="step-5"/>
          <p:cNvSpPr txBox="1"/>
          <p:nvPr/>
        </p:nvSpPr>
        <p:spPr>
          <a:xfrm>
            <a:off x="635508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step-arrow-5"/>
          <p:cNvSpPr/>
          <p:nvPr/>
        </p:nvSpPr>
        <p:spPr>
          <a:xfrm>
            <a:off x="6931152" y="1348740"/>
            <a:ext cx="768096" cy="0"/>
          </a:xfrm>
          <a:prstGeom prst="line">
            <a:avLst/>
          </a:prstGeom>
          <a:noFill/>
          <a:ln w="1587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step-label-5"/>
          <p:cNvSpPr txBox="1"/>
          <p:nvPr/>
        </p:nvSpPr>
        <p:spPr>
          <a:xfrm>
            <a:off x="5943600" y="1691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Педагог тексеруі</a:t>
            </a:r>
            <a:endParaRPr lang="en-US" sz="1300" dirty="0"/>
          </a:p>
        </p:txBody>
      </p:sp>
      <p:sp>
        <p:nvSpPr>
          <p:cNvPr id="18" name="step-6"/>
          <p:cNvSpPr txBox="1"/>
          <p:nvPr/>
        </p:nvSpPr>
        <p:spPr>
          <a:xfrm>
            <a:off x="772668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step-label-6"/>
          <p:cNvSpPr txBox="1"/>
          <p:nvPr/>
        </p:nvSpPr>
        <p:spPr>
          <a:xfrm>
            <a:off x="7315200" y="1691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CSV экспорт</a:t>
            </a:r>
            <a:endParaRPr lang="en-US" sz="1300" dirty="0"/>
          </a:p>
        </p:txBody>
      </p:sp>
      <p:sp>
        <p:nvSpPr>
          <p:cNvPr id="20" name="json-card"/>
          <p:cNvSpPr/>
          <p:nvPr/>
        </p:nvSpPr>
        <p:spPr>
          <a:xfrm>
            <a:off x="457200" y="2514600"/>
            <a:ext cx="3977640" cy="205740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/>
        </p:spPr>
      </p:sp>
      <p:sp>
        <p:nvSpPr>
          <p:cNvPr id="21" name="json-text"/>
          <p:cNvSpPr txBox="1"/>
          <p:nvPr/>
        </p:nvSpPr>
        <p:spPr>
          <a:xfrm>
            <a:off x="64008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ЖИ жауабы (құрылымдалған JSON)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strengths — дұрыс тұстар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errors — анықталған қателер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recommendation — келесі қадам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criteria_scores, suggested_score (0–8)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needs_review — педагог тексеруі қажет пе</a:t>
            </a:r>
            <a:endParaRPr lang="en-US" sz="1400" dirty="0"/>
          </a:p>
        </p:txBody>
      </p:sp>
      <p:sp>
        <p:nvSpPr>
          <p:cNvPr id="22" name="safety-card"/>
          <p:cNvSpPr/>
          <p:nvPr/>
        </p:nvSpPr>
        <p:spPr>
          <a:xfrm>
            <a:off x="4709160" y="2514600"/>
            <a:ext cx="3977640" cy="205740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/>
        </p:spPr>
      </p:sp>
      <p:sp>
        <p:nvSpPr>
          <p:cNvPr id="23" name="safety-text"/>
          <p:cNvSpPr txBox="1"/>
          <p:nvPr/>
        </p:nvSpPr>
        <p:spPr>
          <a:xfrm>
            <a:off x="489204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Сенімділік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ЖИ қолжетімсіз болса да жауап сақталады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Қайта сұрау көшірме жасамайды (response_id)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Жауаптағы нұсқаулар орындалмайды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Тексерілмеген нәтиже арнайы белгіленеді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Педагог бағасы бөлек сақталады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Сынақ нәтижелері</a:t>
            </a:r>
            <a:endParaRPr lang="en-US" sz="3000" dirty="0"/>
          </a:p>
        </p:txBody>
      </p:sp>
      <p:sp>
        <p:nvSpPr>
          <p:cNvPr id="3" name="tech-card"/>
          <p:cNvSpPr/>
          <p:nvPr/>
        </p:nvSpPr>
        <p:spPr>
          <a:xfrm>
            <a:off x="457200" y="1097280"/>
            <a:ext cx="3017520" cy="3429000"/>
          </a:xfrm>
          <a:prstGeom prst="roundRect">
            <a:avLst>
              <a:gd name="adj" fmla="val 3030"/>
            </a:avLst>
          </a:prstGeom>
          <a:solidFill>
            <a:srgbClr val="F3F5F9"/>
          </a:solidFill>
          <a:ln/>
        </p:spPr>
      </p:sp>
      <p:sp>
        <p:nvSpPr>
          <p:cNvPr id="4" name="tech-num"/>
          <p:cNvSpPr txBox="1"/>
          <p:nvPr/>
        </p:nvSpPr>
        <p:spPr>
          <a:xfrm>
            <a:off x="640080" y="1234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16/16</a:t>
            </a:r>
            <a:endParaRPr lang="en-US" sz="4800" dirty="0"/>
          </a:p>
        </p:txBody>
      </p:sp>
      <p:sp>
        <p:nvSpPr>
          <p:cNvPr id="5" name="tech-list"/>
          <p:cNvSpPr txBox="1"/>
          <p:nvPr/>
        </p:nvSpPr>
        <p:spPr>
          <a:xfrm>
            <a:off x="640080" y="214884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техникалық сынақ өтті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дұрыс және бос жауап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API қатесі, қайта жіберу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бұзылған JSON, балл аралығы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рұқсатсыз кіру, CSV экспорт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ЖИ лимиті → қосалқы модель</a:t>
            </a:r>
            <a:endParaRPr lang="en-US" sz="1400" dirty="0"/>
          </a:p>
        </p:txBody>
      </p:sp>
      <p:graphicFrame>
        <p:nvGraphicFramePr>
          <p:cNvPr id="6" name="score-chart" descr=""/>
          <p:cNvGraphicFramePr/>
          <p:nvPr/>
        </p:nvGraphicFramePr>
        <p:xfrm>
          <a:off x="3749040" y="105156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pilot-metrics"/>
          <p:cNvSpPr txBox="1"/>
          <p:nvPr/>
        </p:nvSpPr>
        <p:spPr>
          <a:xfrm>
            <a:off x="3749040" y="3840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Толық сәйкестік: 11/14 · орташа айырма: 0.5 балл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Айырмашылық тек даулы жауаптарда (R11, R13, R14): ЖИ баламалы шешімдерді төмен бағалады → сұраныс v2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Қорытынды және келесі қадамдар</a:t>
            </a:r>
            <a:endParaRPr lang="en-US" sz="3000" dirty="0"/>
          </a:p>
        </p:txBody>
      </p:sp>
      <p:sp>
        <p:nvSpPr>
          <p:cNvPr id="3" name="close-card-0"/>
          <p:cNvSpPr/>
          <p:nvPr/>
        </p:nvSpPr>
        <p:spPr>
          <a:xfrm>
            <a:off x="457200" y="114300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2B3550"/>
          </a:solidFill>
          <a:ln/>
        </p:spPr>
      </p:sp>
      <p:sp>
        <p:nvSpPr>
          <p:cNvPr id="4" name="close-badge-0"/>
          <p:cNvSpPr txBox="1"/>
          <p:nvPr/>
        </p:nvSpPr>
        <p:spPr>
          <a:xfrm>
            <a:off x="685800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close-head-0"/>
          <p:cNvSpPr txBox="1"/>
          <p:nvPr/>
        </p:nvSpPr>
        <p:spPr>
          <a:xfrm>
            <a:off x="68580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Нәтиже</a:t>
            </a:r>
            <a:endParaRPr lang="en-US" sz="1800" dirty="0"/>
          </a:p>
        </p:txBody>
      </p:sp>
      <p:sp>
        <p:nvSpPr>
          <p:cNvPr id="6" name="close-body-0"/>
          <p:cNvSpPr txBox="1"/>
          <p:nvPr/>
        </p:nvSpPr>
        <p:spPr>
          <a:xfrm>
            <a:off x="685800" y="22860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E7"/>
                </a:solidFill>
              </a:rPr>
              <a:t>Бұлтта жұмыс істейтін қосымша: жауап → Firestore → Gemini → педагог тексеруі → CSV экспорт</a:t>
            </a:r>
            <a:endParaRPr lang="en-US" sz="1400" dirty="0"/>
          </a:p>
        </p:txBody>
      </p:sp>
      <p:sp>
        <p:nvSpPr>
          <p:cNvPr id="7" name="close-card-1"/>
          <p:cNvSpPr/>
          <p:nvPr/>
        </p:nvSpPr>
        <p:spPr>
          <a:xfrm>
            <a:off x="3264408" y="114300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2B3550"/>
          </a:solidFill>
          <a:ln/>
        </p:spPr>
      </p:sp>
      <p:sp>
        <p:nvSpPr>
          <p:cNvPr id="8" name="close-badge-1"/>
          <p:cNvSpPr txBox="1"/>
          <p:nvPr/>
        </p:nvSpPr>
        <p:spPr>
          <a:xfrm>
            <a:off x="3493008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close-head-1"/>
          <p:cNvSpPr txBox="1"/>
          <p:nvPr/>
        </p:nvSpPr>
        <p:spPr>
          <a:xfrm>
            <a:off x="3493008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Шектеулер</a:t>
            </a:r>
            <a:endParaRPr lang="en-US" sz="1800" dirty="0"/>
          </a:p>
        </p:txBody>
      </p:sp>
      <p:sp>
        <p:nvSpPr>
          <p:cNvPr id="10" name="close-body-1"/>
          <p:cNvSpPr txBox="1"/>
          <p:nvPr/>
        </p:nvSpPr>
        <p:spPr>
          <a:xfrm>
            <a:off x="3493008" y="22860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E7"/>
                </a:solidFill>
              </a:rPr>
              <a:t>Код мәтін ретінде талданады; тегін лимит — бір модельге тәулігіне 20 сұраныс; модельдік деректер аз</a:t>
            </a:r>
            <a:endParaRPr lang="en-US" sz="1400" dirty="0"/>
          </a:p>
        </p:txBody>
      </p:sp>
      <p:sp>
        <p:nvSpPr>
          <p:cNvPr id="11" name="close-card-2"/>
          <p:cNvSpPr/>
          <p:nvPr/>
        </p:nvSpPr>
        <p:spPr>
          <a:xfrm>
            <a:off x="6071616" y="114300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2B3550"/>
          </a:solidFill>
          <a:ln/>
        </p:spPr>
      </p:sp>
      <p:sp>
        <p:nvSpPr>
          <p:cNvPr id="12" name="close-badge-2"/>
          <p:cNvSpPr txBox="1"/>
          <p:nvPr/>
        </p:nvSpPr>
        <p:spPr>
          <a:xfrm>
            <a:off x="6300216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close-head-2"/>
          <p:cNvSpPr txBox="1"/>
          <p:nvPr/>
        </p:nvSpPr>
        <p:spPr>
          <a:xfrm>
            <a:off x="6300216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Келесі қадам</a:t>
            </a:r>
            <a:endParaRPr lang="en-US" sz="1800" dirty="0"/>
          </a:p>
        </p:txBody>
      </p:sp>
      <p:sp>
        <p:nvSpPr>
          <p:cNvPr id="14" name="close-body-2"/>
          <p:cNvSpPr txBox="1"/>
          <p:nvPr/>
        </p:nvSpPr>
        <p:spPr>
          <a:xfrm>
            <a:off x="6300216" y="22860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E7"/>
                </a:solidFill>
              </a:rPr>
              <a:t>Тек педагог тексерген бағалар — дұрыс белгі; әр тапсырмаға 30–50 тексерілген жауап</a:t>
            </a:r>
            <a:endParaRPr lang="en-US" sz="1400" dirty="0"/>
          </a:p>
        </p:txBody>
      </p:sp>
      <p:sp>
        <p:nvSpPr>
          <p:cNvPr id="15" name="links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Қосымша: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130"/>
                </a:solidFill>
                <a:highlight>
                  <a:srgbClr val="FFFF00"/>
                </a:highlight>
              </a:rPr>
              <a:t>[сілтеме]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    Код: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130"/>
                </a:solidFill>
                <a:highlight>
                  <a:srgbClr val="FFFF00"/>
                </a:highlight>
              </a:rPr>
              <a:t>[GitHub сілтемесі]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S-Talimger">
  <a:themeElements>
    <a:clrScheme name="JS-Talimger">
      <a:dk1>
        <a:srgbClr val="1B2130"/>
      </a:dk1>
      <a:lt1>
        <a:srgbClr val="FFFFFF"/>
      </a:lt1>
      <a:dk2>
        <a:srgbClr val="2B3550"/>
      </a:dk2>
      <a:lt2>
        <a:srgbClr val="F3F5F9"/>
      </a:lt2>
      <a:accent1>
        <a:srgbClr val="F0C419"/>
      </a:accent1>
      <a:accent2>
        <a:srgbClr val="3B5BDB"/>
      </a:accent2>
      <a:accent3>
        <a:srgbClr val="1E7B45"/>
      </a:accent3>
      <a:accent4>
        <a:srgbClr val="7846BE"/>
      </a:accent4>
      <a:accent5>
        <a:srgbClr val="E07A1F"/>
      </a:accent5>
      <a:accent6>
        <a:srgbClr val="667085"/>
      </a:accent6>
      <a:hlink>
        <a:srgbClr val="3B5BDB"/>
      </a:hlink>
      <a:folHlink>
        <a:srgbClr val="7846BE"/>
      </a:folHlink>
    </a:clrScheme>
    <a:fontScheme name="JS-Talim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JS-Тәлімгер — 1-аралық жоба</dc:title>
  <dc:subject>PptxGenJS Presentation</dc:subject>
  <dc:creator>PptxGenJS</dc:creator>
  <cp:lastModifiedBy>PptxGenJS</cp:lastModifiedBy>
  <cp:revision>1</cp:revision>
  <dcterms:created xsi:type="dcterms:W3CDTF">2026-10-15T05:34:42Z</dcterms:created>
  <dcterms:modified xsi:type="dcterms:W3CDTF">2026-10-15T05:34:42Z</dcterms:modified>
</cp:coreProperties>
</file>