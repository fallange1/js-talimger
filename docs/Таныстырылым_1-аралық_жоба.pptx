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b911d053-38fe-a0b4-369c-70a669718bb6}">
          <p14:sldIdLst>
            <p14:sldId id="256"/>
          </p14:sldIdLst>
        </p14:section>
        <p14:section name="Зерттеу" id="{946ace6d-1d98-235f-78bf-e97a37e0f3bc}">
          <p14:sldIdLst>
            <p14:sldId id="257"/>
          </p14:sldIdLst>
        </p14:section>
        <p14:section name="Қосымша" id="{4ad7e7f9-ee60-a40b-59c0-353235f1cce0}">
          <p14:sldIdLst>
            <p14:sldId id="258"/>
            <p14:sldId id="259"/>
            <p14:sldId id="260"/>
          </p14:sldIdLst>
        </p14:section>
        <p14:section name="Нәтижелер" id="{3558d1a3-ca33-15b4-aad9-17f94ffe63ac}">
          <p14:sldIdLst>
            <p14:sldId id="261"/>
          </p14:sldIdLst>
        </p14:section>
        <p14:section name="Қорытынды" id="{89e1733f-2e32-4a28-1647-d796fbf6385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30"/>
                </a:solidFill>
                <a:latin typeface="+mn-lt"/>
              </a:rPr>
              <a:t>ЖИ мен педагог бағалары (14 модельдік жауап, 0–8)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ЖИ бағасы</c:v>
                </c:pt>
              </c:strCache>
            </c:strRef>
          </c:tx>
          <c:spPr>
            <a:solidFill>
              <a:srgbClr val="3B5B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1</c:v>
                </c:pt>
                <c:pt idx="11">
                  <c:v>7</c:v>
                </c:pt>
                <c:pt idx="12">
                  <c:v>4</c:v>
                </c:pt>
                <c:pt idx="1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Педагог бағасы</c:v>
                </c:pt>
              </c:strCache>
            </c:strRef>
          </c:tx>
          <c:spPr>
            <a:solidFill>
              <a:srgbClr val="F0C41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  <c:pt idx="11">
                  <c:v>7</c:v>
                </c:pt>
                <c:pt idx="12">
                  <c:v>6</c:v>
                </c:pt>
                <c:pt idx="1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Сәлеметсіздер ме. Жобамның тақырыбы — педагогикалық зерттеуге арналған бұлттық веб қосымшаны әзірлеу және ЖИ сервисін API арқылы интеграциялау. Қосымша менің диссертациямның тақырыбына — JavaScript-ті ЖИ көмегімен оқытуға арналған онлайн платформаға — тікелей байланысты.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Педагогикалық мәселе: практикалық тапсырмаларға жедел әрі нақты кері байланыс беру қиын. Зерттеу сұрағым — оқушылар қандай қателер жібереді және ЖИ кері байланысы оларды педагогпен салыстырғанда қаншалықты дұрыс анықтайды. Ол үшін қосымшада 10 сұрақтық тест және рубрикасы бар 3 практикалық тапсырма бар.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Архитектура: қатысушы мен зерттеуші браузер арқылы Flask серверімен жұмыс істейді. Сервер Render.com бұлттық платформасында орналасқан. Деректер Firebase Firestore-да бес жинақта сақталады, ЖИ талдауын Google Gemini API жасайды. API кілті браузерге берілмейді, ол сервердің орта айнымалысында тұр.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Жұмыс тәртібі: жауап алдымен бұлтқа сақталады, содан кейін сервер тапсырма мен рубриканы деректер қорынан алып, Gemini-ге сұраныс жібереді. ЖИ жауабы бекітілген JSON өрістерімен келеді, сервер балдың 0–8 аралығында екенін тексереді. Педагог зерттеуші бетінде ЖИ нәтижесін көріп, өз бағасын қояды; екеуі бөлек сақталады. Осы жерде қосымшаны көрсетемін: бір жауап жіберу, бұлтта сақталуы, ЖИ кері байланысы, педагог тексеруі және CSV экспорт.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Қосымша функция — қатемен жұмыс. Кері байланысты алған соң қатысушы кодын тағы екі рет түзетіп жібере алады, ЖИ әр талпынысты рубрика бойынша қайта бағалайды. Түсінбесе, ЖИ-ден дайын шешімсіз бағыттаушы кеңес сұрайды — бір тапсырмаға екі рет. Мысалда бірінші талпыныс 5 балл болды, кеңестен кейін қате түзетіліп, 8 балл алынды. Бастапқы жауап өзгермейді, сондықтан талпыныстар арасындағы балл өсімін зерттеу деректері ретінде талдауға болады.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Техникалық сынақтың барлық жағдайлары автотесттермен тексерілді: 16 тесттің 16-сы өтті. ЖИ сапасын тексеру үшін 14 модельдік жауап дайындадым: дұрыс, жартылай дұрыс, қате, нұсқау енгізу әрекеті және рубрикаға тура келмейтін төрт даулы жауап. Педагог бағасын ЖИ нәтижесін көрмей тұрып қойдым. Типтік жауаптарда бағалар толық сәйкес келді, ЖИ max = 0 сияқты мағыналық қателерді де тапты және нұсқау енгізуге көнбеді. Айырмашылық тек даулы жауаптарда болды: ЖИ рубриканы сөзбе-сөз қолданып, sort, reduce, onclick сияқты баламалы шешімдерді төмен бағалады және needs_review белгісін қоймады. Сондықтан сұраныстың v2 нұсқасын жасадым, ал барлық ЖИ нәтижесі педагог тексергенге дейін тексерілмеген деп белгіленеді.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Қорытынды: зерттеу міндетін шешетін, деректерді бұлтта сақтайтын және ЖИ кері байланысын педагог бақылауымен беретін қосымша жасалды. Шектеулері — код орындалмайды, тегін API лимиттері бар, әзірге модельдік деректер аз. Келесі қадам — пилоттық тексеру және 2-аралық жобаға педагог тексерген деректерді жинау. Назарларыңызға рахмет.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JS-Тәлімгер · 1-аралық бақылау жобасы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s-talimger.onrender.com" TargetMode="External"/><Relationship Id="rId2" Type="http://schemas.openxmlformats.org/officeDocument/2006/relationships/hyperlink" Target="https://github.com/FallAnge1/js-talimger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 txBox="1"/>
          <p:nvPr/>
        </p:nvSpPr>
        <p:spPr>
          <a:xfrm>
            <a:off x="548640" y="548640"/>
            <a:ext cx="8229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JS-Тәлімгер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JavaScript бойынша ЖИ кері байланысы бар диагностикалық бұлттық веб қосымша</a:t>
            </a:r>
            <a:endParaRPr lang="en-US" sz="2000" dirty="0"/>
          </a:p>
        </p:txBody>
      </p:sp>
      <p:sp>
        <p:nvSpPr>
          <p:cNvPr id="5" name="meta"/>
          <p:cNvSpPr txBox="1"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1-аралық бақылау жобасы · «Педагогикалық зерттеулерді ұйымдастырудағы бұлтты технологиялар»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Магистрант: Касым Сагынгали · 7М01511 – Информатика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Зерттеу міндеті</a:t>
            </a:r>
            <a:endParaRPr lang="en-US" sz="3000" dirty="0"/>
          </a:p>
        </p:txBody>
      </p:sp>
      <p:sp>
        <p:nvSpPr>
          <p:cNvPr id="3" name="problem"/>
          <p:cNvSpPr txBox="1"/>
          <p:nvPr/>
        </p:nvSpPr>
        <p:spPr>
          <a:xfrm>
            <a:off x="457200" y="10972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Мәселе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JS-ті бастап үйренушілер циклдерде, массивтерде және DOM оқиғаларында тұрақты қателер жібереді, ал әр практикалық жауапқа жеке кері байланыс беру педагогтен көп уақыт талап етеді.</a:t>
            </a:r>
            <a:endParaRPr lang="en-US" sz="1600" dirty="0"/>
          </a:p>
        </p:txBody>
      </p:sp>
      <p:sp>
        <p:nvSpPr>
          <p:cNvPr id="4" name="question-card"/>
          <p:cNvSpPr/>
          <p:nvPr/>
        </p:nvSpPr>
        <p:spPr>
          <a:xfrm>
            <a:off x="457200" y="2606040"/>
            <a:ext cx="4937760" cy="1920240"/>
          </a:xfrm>
          <a:prstGeom prst="roundRect">
            <a:avLst>
              <a:gd name="adj" fmla="val 4762"/>
            </a:avLst>
          </a:prstGeom>
          <a:solidFill>
            <a:srgbClr val="F3F5F9"/>
          </a:solidFill>
          <a:ln/>
        </p:spPr>
      </p:sp>
      <p:sp>
        <p:nvSpPr>
          <p:cNvPr id="5" name="question"/>
          <p:cNvSpPr txBox="1"/>
          <p:nvPr/>
        </p:nvSpPr>
        <p:spPr>
          <a:xfrm>
            <a:off x="685800" y="274320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Зерттеу сұрағы</a:t>
            </a:r>
            <a:endParaRPr lang="en-US" sz="16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Білім алушылар JS тапсырмаларында қандай қателер жібереді, ЖИ оларды педагогпен салыстырғанда қаншалықты дұрыс анықтайды және деңгейлік тапсырмадан кейін деңгейі өзгере ме?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760720" y="109728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7" name="stat-num-0"/>
          <p:cNvSpPr txBox="1"/>
          <p:nvPr/>
        </p:nvSpPr>
        <p:spPr>
          <a:xfrm>
            <a:off x="5943600" y="118872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8" name="stat-label-0"/>
          <p:cNvSpPr txBox="1"/>
          <p:nvPr/>
        </p:nvSpPr>
        <p:spPr>
          <a:xfrm>
            <a:off x="7132320" y="11887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сұрақ: диагностикалық + қорытынды тест</a:t>
            </a:r>
            <a:endParaRPr lang="en-US" sz="1300" dirty="0"/>
          </a:p>
        </p:txBody>
      </p:sp>
      <p:sp>
        <p:nvSpPr>
          <p:cNvPr id="9" name="stat-card-1"/>
          <p:cNvSpPr/>
          <p:nvPr/>
        </p:nvSpPr>
        <p:spPr>
          <a:xfrm>
            <a:off x="5760720" y="2258568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0" name="stat-num-1"/>
          <p:cNvSpPr txBox="1"/>
          <p:nvPr/>
        </p:nvSpPr>
        <p:spPr>
          <a:xfrm>
            <a:off x="5943600" y="235000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× 5</a:t>
            </a:r>
            <a:endParaRPr lang="en-US" sz="3400" dirty="0"/>
          </a:p>
        </p:txBody>
      </p:sp>
      <p:sp>
        <p:nvSpPr>
          <p:cNvPr id="11" name="stat-label-1"/>
          <p:cNvSpPr txBox="1"/>
          <p:nvPr/>
        </p:nvSpPr>
        <p:spPr>
          <a:xfrm>
            <a:off x="7132320" y="235000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деңгей × тапсырма банкі, ЖИ таңдайды</a:t>
            </a:r>
            <a:endParaRPr lang="en-US" sz="1300" dirty="0"/>
          </a:p>
        </p:txBody>
      </p:sp>
      <p:sp>
        <p:nvSpPr>
          <p:cNvPr id="12" name="stat-card-2"/>
          <p:cNvSpPr/>
          <p:nvPr/>
        </p:nvSpPr>
        <p:spPr>
          <a:xfrm>
            <a:off x="5760720" y="3419856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3" name="stat-num-2"/>
          <p:cNvSpPr txBox="1"/>
          <p:nvPr/>
        </p:nvSpPr>
        <p:spPr>
          <a:xfrm>
            <a:off x="5943600" y="3511296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2</a:t>
            </a:r>
            <a:endParaRPr lang="en-US" sz="3400" dirty="0"/>
          </a:p>
        </p:txBody>
      </p:sp>
      <p:sp>
        <p:nvSpPr>
          <p:cNvPr id="14" name="stat-label-2"/>
          <p:cNvSpPr txBox="1"/>
          <p:nvPr/>
        </p:nvSpPr>
        <p:spPr>
          <a:xfrm>
            <a:off x="7132320" y="351129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рубрика: 4 критерий, 0–2 балдан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Қосымша архитектурасы</a:t>
            </a:r>
            <a:endParaRPr lang="en-US" sz="3000" dirty="0"/>
          </a:p>
        </p:txBody>
      </p:sp>
      <p:pic>
        <p:nvPicPr>
          <p:cNvPr id="3" name="architecture" descr="Қосымша архитектурасы: браузер, Flask сервері, Firestore, Gemini AP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220278"/>
          </a:xfrm>
          <a:prstGeom prst="rect">
            <a:avLst/>
          </a:prstGeom>
        </p:spPr>
      </p:pic>
      <p:sp>
        <p:nvSpPr>
          <p:cNvPr id="4" name="arch-notes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Flask (Render.com) · Firebase Firestore · Google Gemini 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кілті тек серверде · жауап ЖИ-ден бұрын сақталады · педагог бағасы ЖИ нәтижесінен бөлек сақталады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ЖИ интеграциясы және педагог тексеруі</a:t>
            </a:r>
            <a:endParaRPr lang="en-US" sz="3000" dirty="0"/>
          </a:p>
        </p:txBody>
      </p:sp>
      <p:sp>
        <p:nvSpPr>
          <p:cNvPr id="3" name="step-1"/>
          <p:cNvSpPr txBox="1"/>
          <p:nvPr/>
        </p:nvSpPr>
        <p:spPr>
          <a:xfrm>
            <a:off x="868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step-arrow-1"/>
          <p:cNvSpPr/>
          <p:nvPr/>
        </p:nvSpPr>
        <p:spPr>
          <a:xfrm>
            <a:off x="14447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5" name="step-label-1"/>
          <p:cNvSpPr txBox="1"/>
          <p:nvPr/>
        </p:nvSpPr>
        <p:spPr>
          <a:xfrm>
            <a:off x="457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Тест → деңгей</a:t>
            </a:r>
            <a:endParaRPr lang="en-US" sz="1300" dirty="0"/>
          </a:p>
        </p:txBody>
      </p:sp>
      <p:sp>
        <p:nvSpPr>
          <p:cNvPr id="6" name="step-2"/>
          <p:cNvSpPr txBox="1"/>
          <p:nvPr/>
        </p:nvSpPr>
        <p:spPr>
          <a:xfrm>
            <a:off x="22402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step-arrow-2"/>
          <p:cNvSpPr/>
          <p:nvPr/>
        </p:nvSpPr>
        <p:spPr>
          <a:xfrm>
            <a:off x="28163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8" name="step-label-2"/>
          <p:cNvSpPr txBox="1"/>
          <p:nvPr/>
        </p:nvSpPr>
        <p:spPr>
          <a:xfrm>
            <a:off x="18288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ЖИ тапсырма таңдайды</a:t>
            </a:r>
            <a:endParaRPr lang="en-US" sz="1300" dirty="0"/>
          </a:p>
        </p:txBody>
      </p:sp>
      <p:sp>
        <p:nvSpPr>
          <p:cNvPr id="9" name="step-3"/>
          <p:cNvSpPr txBox="1"/>
          <p:nvPr/>
        </p:nvSpPr>
        <p:spPr>
          <a:xfrm>
            <a:off x="36118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step-arrow-3"/>
          <p:cNvSpPr/>
          <p:nvPr/>
        </p:nvSpPr>
        <p:spPr>
          <a:xfrm>
            <a:off x="41879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1" name="step-label-3"/>
          <p:cNvSpPr txBox="1"/>
          <p:nvPr/>
        </p:nvSpPr>
        <p:spPr>
          <a:xfrm>
            <a:off x="32004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Жауап → бұлт</a:t>
            </a:r>
            <a:endParaRPr lang="en-US" sz="1300" dirty="0"/>
          </a:p>
        </p:txBody>
      </p:sp>
      <p:sp>
        <p:nvSpPr>
          <p:cNvPr id="12" name="step-4"/>
          <p:cNvSpPr txBox="1"/>
          <p:nvPr/>
        </p:nvSpPr>
        <p:spPr>
          <a:xfrm>
            <a:off x="49834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step-arrow-4"/>
          <p:cNvSpPr/>
          <p:nvPr/>
        </p:nvSpPr>
        <p:spPr>
          <a:xfrm>
            <a:off x="55595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step-label-4"/>
          <p:cNvSpPr txBox="1"/>
          <p:nvPr/>
        </p:nvSpPr>
        <p:spPr>
          <a:xfrm>
            <a:off x="45720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ЖИ: рубрика бойынша талдау</a:t>
            </a:r>
            <a:endParaRPr lang="en-US" sz="1300" dirty="0"/>
          </a:p>
        </p:txBody>
      </p:sp>
      <p:sp>
        <p:nvSpPr>
          <p:cNvPr id="15" name="step-5"/>
          <p:cNvSpPr txBox="1"/>
          <p:nvPr/>
        </p:nvSpPr>
        <p:spPr>
          <a:xfrm>
            <a:off x="63550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step-arrow-5"/>
          <p:cNvSpPr/>
          <p:nvPr/>
        </p:nvSpPr>
        <p:spPr>
          <a:xfrm>
            <a:off x="69311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step-label-5"/>
          <p:cNvSpPr txBox="1"/>
          <p:nvPr/>
        </p:nvSpPr>
        <p:spPr>
          <a:xfrm>
            <a:off x="59436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Педагог тексеруі</a:t>
            </a:r>
            <a:endParaRPr lang="en-US" sz="1300" dirty="0"/>
          </a:p>
        </p:txBody>
      </p:sp>
      <p:sp>
        <p:nvSpPr>
          <p:cNvPr id="18" name="step-6"/>
          <p:cNvSpPr txBox="1"/>
          <p:nvPr/>
        </p:nvSpPr>
        <p:spPr>
          <a:xfrm>
            <a:off x="7726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tep-label-6"/>
          <p:cNvSpPr txBox="1"/>
          <p:nvPr/>
        </p:nvSpPr>
        <p:spPr>
          <a:xfrm>
            <a:off x="7315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Қорытынды тест</a:t>
            </a:r>
            <a:endParaRPr lang="en-US" sz="1300" dirty="0"/>
          </a:p>
        </p:txBody>
      </p:sp>
      <p:sp>
        <p:nvSpPr>
          <p:cNvPr id="20" name="json-card"/>
          <p:cNvSpPr/>
          <p:nvPr/>
        </p:nvSpPr>
        <p:spPr>
          <a:xfrm>
            <a:off x="45720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1" name="json-text"/>
          <p:cNvSpPr txBox="1"/>
          <p:nvPr/>
        </p:nvSpPr>
        <p:spPr>
          <a:xfrm>
            <a:off x="64008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ЖИ жауабы (құрылымдалған JSON)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strengths — дұрыс тұстар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errors — анықталған қателер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recommendation — келесі қадам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criteria_scores, suggested_score (0–8)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needs_review — педагог тексеруі қажет пе</a:t>
            </a:r>
            <a:endParaRPr lang="en-US" sz="1400" dirty="0"/>
          </a:p>
        </p:txBody>
      </p:sp>
      <p:sp>
        <p:nvSpPr>
          <p:cNvPr id="22" name="safety-card"/>
          <p:cNvSpPr/>
          <p:nvPr/>
        </p:nvSpPr>
        <p:spPr>
          <a:xfrm>
            <a:off x="470916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3" name="safety-text"/>
          <p:cNvSpPr txBox="1"/>
          <p:nvPr/>
        </p:nvSpPr>
        <p:spPr>
          <a:xfrm>
            <a:off x="489204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Сенімділік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қолжетімсіз болса да жауап сақталады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Қайта сұрау көшірме жасамайды (response_id)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Жауаптағы нұсқаулар орындалмайды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Тексерілмеген нәтиже арнайы белгіленеді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Педагог бағасы бөлек сақталады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Қатемен жұмыс: кеңес және қайта тексеру</a:t>
            </a:r>
            <a:endParaRPr lang="en-US" sz="3000" dirty="0"/>
          </a:p>
        </p:txBody>
      </p:sp>
      <p:pic>
        <p:nvPicPr>
          <p:cNvPr id="3" name="revision-screen" descr="Кері байланыс беті: 1-талпыныс 5/8, 2-талпыныс 8/8, ЖИ кеңесшіс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074920" cy="3108960"/>
          </a:xfrm>
          <a:prstGeom prst="rect">
            <a:avLst/>
          </a:prstGeom>
        </p:spPr>
      </p:pic>
      <p:sp>
        <p:nvSpPr>
          <p:cNvPr id="4" name="revision-frame"/>
          <p:cNvSpPr/>
          <p:nvPr/>
        </p:nvSpPr>
        <p:spPr>
          <a:xfrm>
            <a:off x="457200" y="1051560"/>
            <a:ext cx="5074920" cy="3108960"/>
          </a:xfrm>
          <a:prstGeom prst="roundRect">
            <a:avLst>
              <a:gd name="adj" fmla="val 1765"/>
            </a:avLst>
          </a:prstGeom>
          <a:ln w="12700">
            <a:solidFill>
              <a:srgbClr val="E2E8F0"/>
            </a:solidFill>
            <a:prstDash val="solid"/>
          </a:ln>
        </p:spPr>
      </p:sp>
      <p:sp>
        <p:nvSpPr>
          <p:cNvPr id="5" name="rev-badge-0"/>
          <p:cNvSpPr txBox="1"/>
          <p:nvPr/>
        </p:nvSpPr>
        <p:spPr>
          <a:xfrm>
            <a:off x="5806440" y="109728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rev-text-0"/>
          <p:cNvSpPr txBox="1"/>
          <p:nvPr/>
        </p:nvSpPr>
        <p:spPr>
          <a:xfrm>
            <a:off x="6309360" y="1051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Түзету — 2 рет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Кері байланысқа сүйеніп кодты түзетеді, ЖИ рубрика бойынша қайта бағалайды</a:t>
            </a:r>
            <a:endParaRPr lang="en-US" sz="1400" dirty="0"/>
          </a:p>
        </p:txBody>
      </p:sp>
      <p:sp>
        <p:nvSpPr>
          <p:cNvPr id="7" name="rev-badge-1"/>
          <p:cNvSpPr txBox="1"/>
          <p:nvPr/>
        </p:nvSpPr>
        <p:spPr>
          <a:xfrm>
            <a:off x="5806440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rev-text-1"/>
          <p:cNvSpPr txBox="1"/>
          <p:nvPr/>
        </p:nvSpPr>
        <p:spPr>
          <a:xfrm>
            <a:off x="6309360" y="18745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ЖИ кеңесі — 2 рет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Дайын шешімсіз бағыттаушы кеңес; өз сұрағын қоюға болады</a:t>
            </a:r>
            <a:endParaRPr lang="en-US" sz="1400" dirty="0"/>
          </a:p>
        </p:txBody>
      </p:sp>
      <p:sp>
        <p:nvSpPr>
          <p:cNvPr id="9" name="rev-badge-2"/>
          <p:cNvSpPr txBox="1"/>
          <p:nvPr/>
        </p:nvSpPr>
        <p:spPr>
          <a:xfrm>
            <a:off x="5806440" y="274320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rev-text-2"/>
          <p:cNvSpPr txBox="1"/>
          <p:nvPr/>
        </p:nvSpPr>
        <p:spPr>
          <a:xfrm>
            <a:off x="6309360" y="26974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Балл өсімі өлшенеді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1-талпыныс → соңғы: кері байланыстың оқуға әсері</a:t>
            </a:r>
            <a:endParaRPr lang="en-US" sz="1400" dirty="0"/>
          </a:p>
        </p:txBody>
      </p:sp>
      <p:sp>
        <p:nvSpPr>
          <p:cNvPr id="11" name="rev-badge-3"/>
          <p:cNvSpPr txBox="1"/>
          <p:nvPr/>
        </p:nvSpPr>
        <p:spPr>
          <a:xfrm>
            <a:off x="5806440" y="356616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rev-text-3"/>
          <p:cNvSpPr txBox="1"/>
          <p:nvPr/>
        </p:nvSpPr>
        <p:spPr>
          <a:xfrm>
            <a:off x="6309360" y="35204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Деректер бөлек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Бастапқы жауап өзгермейді; әр талпынысты педагог тексереді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Сынақ нәтижелері</a:t>
            </a:r>
            <a:endParaRPr lang="en-US" sz="3000" dirty="0"/>
          </a:p>
        </p:txBody>
      </p:sp>
      <p:sp>
        <p:nvSpPr>
          <p:cNvPr id="3" name="tech-card"/>
          <p:cNvSpPr/>
          <p:nvPr/>
        </p:nvSpPr>
        <p:spPr>
          <a:xfrm>
            <a:off x="457200" y="1097280"/>
            <a:ext cx="3017520" cy="3429000"/>
          </a:xfrm>
          <a:prstGeom prst="roundRect">
            <a:avLst>
              <a:gd name="adj" fmla="val 3030"/>
            </a:avLst>
          </a:prstGeom>
          <a:solidFill>
            <a:srgbClr val="F3F5F9"/>
          </a:solidFill>
          <a:ln/>
        </p:spPr>
      </p:sp>
      <p:sp>
        <p:nvSpPr>
          <p:cNvPr id="4" name="tech-num"/>
          <p:cNvSpPr txBox="1"/>
          <p:nvPr/>
        </p:nvSpPr>
        <p:spPr>
          <a:xfrm>
            <a:off x="640080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4800" dirty="0"/>
          </a:p>
        </p:txBody>
      </p:sp>
      <p:sp>
        <p:nvSpPr>
          <p:cNvPr id="5" name="tech-list"/>
          <p:cNvSpPr txBox="1"/>
          <p:nvPr/>
        </p:nvSpPr>
        <p:spPr>
          <a:xfrm>
            <a:off x="640080" y="214884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техникалық сынақ өтті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дұрыс және бос жауап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API қатесі, қайта жіберу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бұзылған JSON, балл аралығы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рұқсатсыз кіру, CSV экспорт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лимиті → қосалқы модель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деңгей, бұғаттау, қорытынды тест</a:t>
            </a:r>
            <a:endParaRPr lang="en-US" sz="1400" dirty="0"/>
          </a:p>
        </p:txBody>
      </p:sp>
      <p:graphicFrame>
        <p:nvGraphicFramePr>
          <p:cNvPr id="6" name="score-chart" descr=""/>
          <p:cNvGraphicFramePr/>
          <p:nvPr/>
        </p:nvGraphicFramePr>
        <p:xfrm>
          <a:off x="3749040" y="1051560"/>
          <a:ext cx="4937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ilot-metrics"/>
          <p:cNvSpPr txBox="1"/>
          <p:nvPr/>
        </p:nvSpPr>
        <p:spPr>
          <a:xfrm>
            <a:off x="3749040" y="3840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Толық сәйкестік: 11/14 · орташа айырма: 0.5 балл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Айырмашылық тек даулы жауаптарда (R11, R13, R14): ЖИ баламалы шешімдерді төмен бағалады → сұраныс v2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Қорытынды және келесі қадамдар</a:t>
            </a:r>
            <a:endParaRPr lang="en-US" sz="3000" dirty="0"/>
          </a:p>
        </p:txBody>
      </p:sp>
      <p:sp>
        <p:nvSpPr>
          <p:cNvPr id="3" name="close-card-0"/>
          <p:cNvSpPr/>
          <p:nvPr/>
        </p:nvSpPr>
        <p:spPr>
          <a:xfrm>
            <a:off x="457200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4" name="close-badge-0"/>
          <p:cNvSpPr txBox="1"/>
          <p:nvPr/>
        </p:nvSpPr>
        <p:spPr>
          <a:xfrm>
            <a:off x="685800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close-head-0"/>
          <p:cNvSpPr txBox="1"/>
          <p:nvPr/>
        </p:nvSpPr>
        <p:spPr>
          <a:xfrm>
            <a:off x="685800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Нәтиже</a:t>
            </a:r>
            <a:endParaRPr lang="en-US" sz="1800" dirty="0"/>
          </a:p>
        </p:txBody>
      </p:sp>
      <p:sp>
        <p:nvSpPr>
          <p:cNvPr id="6" name="close-body-0"/>
          <p:cNvSpPr txBox="1"/>
          <p:nvPr/>
        </p:nvSpPr>
        <p:spPr>
          <a:xfrm>
            <a:off x="685800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Бұлтта жұмыс істейтін қосымша: жауап → Firestore → Gemini → педагог тексеруі → CSV экспорт</a:t>
            </a:r>
            <a:endParaRPr lang="en-US" sz="1400" dirty="0"/>
          </a:p>
        </p:txBody>
      </p:sp>
      <p:sp>
        <p:nvSpPr>
          <p:cNvPr id="7" name="close-card-1"/>
          <p:cNvSpPr/>
          <p:nvPr/>
        </p:nvSpPr>
        <p:spPr>
          <a:xfrm>
            <a:off x="3264408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8" name="close-badge-1"/>
          <p:cNvSpPr txBox="1"/>
          <p:nvPr/>
        </p:nvSpPr>
        <p:spPr>
          <a:xfrm>
            <a:off x="3493008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close-head-1"/>
          <p:cNvSpPr txBox="1"/>
          <p:nvPr/>
        </p:nvSpPr>
        <p:spPr>
          <a:xfrm>
            <a:off x="3493008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Шектеулер</a:t>
            </a:r>
            <a:endParaRPr lang="en-US" sz="1800" dirty="0"/>
          </a:p>
        </p:txBody>
      </p:sp>
      <p:sp>
        <p:nvSpPr>
          <p:cNvPr id="10" name="close-body-1"/>
          <p:cNvSpPr txBox="1"/>
          <p:nvPr/>
        </p:nvSpPr>
        <p:spPr>
          <a:xfrm>
            <a:off x="3493008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Код мәтін ретінде талданады; тегін лимит — бір модельге тәулігіне 20 сұраныс; модельдік деректер аз</a:t>
            </a:r>
            <a:endParaRPr lang="en-US" sz="1400" dirty="0"/>
          </a:p>
        </p:txBody>
      </p:sp>
      <p:sp>
        <p:nvSpPr>
          <p:cNvPr id="11" name="close-card-2"/>
          <p:cNvSpPr/>
          <p:nvPr/>
        </p:nvSpPr>
        <p:spPr>
          <a:xfrm>
            <a:off x="6071616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12" name="close-badge-2"/>
          <p:cNvSpPr txBox="1"/>
          <p:nvPr/>
        </p:nvSpPr>
        <p:spPr>
          <a:xfrm>
            <a:off x="6300216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close-head-2"/>
          <p:cNvSpPr txBox="1"/>
          <p:nvPr/>
        </p:nvSpPr>
        <p:spPr>
          <a:xfrm>
            <a:off x="6300216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Келесі қадам</a:t>
            </a:r>
            <a:endParaRPr lang="en-US" sz="1800" dirty="0"/>
          </a:p>
        </p:txBody>
      </p:sp>
      <p:sp>
        <p:nvSpPr>
          <p:cNvPr id="14" name="close-body-2"/>
          <p:cNvSpPr txBox="1"/>
          <p:nvPr/>
        </p:nvSpPr>
        <p:spPr>
          <a:xfrm>
            <a:off x="6300216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Тек педагог тексерген бағалар — дұрыс белгі; әр тапсырмаға 30–50 тексерілген жауап</a:t>
            </a:r>
            <a:endParaRPr lang="en-US" sz="1400" dirty="0"/>
          </a:p>
        </p:txBody>
      </p:sp>
      <p:sp>
        <p:nvSpPr>
          <p:cNvPr id="15" name="links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Қосымша: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js-talimger.onrender.com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 Код: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github.com/FallAnge1/js-talimger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S-Talimger">
  <a:themeElements>
    <a:clrScheme name="JS-Talimger">
      <a:dk1>
        <a:srgbClr val="1B2130"/>
      </a:dk1>
      <a:lt1>
        <a:srgbClr val="FFFFFF"/>
      </a:lt1>
      <a:dk2>
        <a:srgbClr val="2B3550"/>
      </a:dk2>
      <a:lt2>
        <a:srgbClr val="F3F5F9"/>
      </a:lt2>
      <a:accent1>
        <a:srgbClr val="F0C419"/>
      </a:accent1>
      <a:accent2>
        <a:srgbClr val="3B5BDB"/>
      </a:accent2>
      <a:accent3>
        <a:srgbClr val="1E7B45"/>
      </a:accent3>
      <a:accent4>
        <a:srgbClr val="7846BE"/>
      </a:accent4>
      <a:accent5>
        <a:srgbClr val="E07A1F"/>
      </a:accent5>
      <a:accent6>
        <a:srgbClr val="667085"/>
      </a:accent6>
      <a:hlink>
        <a:srgbClr val="3B5BDB"/>
      </a:hlink>
      <a:folHlink>
        <a:srgbClr val="7846BE"/>
      </a:folHlink>
    </a:clrScheme>
    <a:fontScheme name="JS-Talim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JS-Тәлімгер — 1-аралық жоба</dc:title>
  <dc:subject>PptxGenJS Presentation</dc:subject>
  <dc:creator>PptxGenJS</dc:creator>
  <cp:lastModifiedBy>PptxGenJS</cp:lastModifiedBy>
  <cp:revision>1</cp:revision>
  <dcterms:created xsi:type="dcterms:W3CDTF">2026-10-16T13:58:48Z</dcterms:created>
  <dcterms:modified xsi:type="dcterms:W3CDTF">2026-10-16T13:58:48Z</dcterms:modified>
</cp:coreProperties>
</file>